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E0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EDEA3"/>
          </a:solidFill>
          <a:ln/>
        </p:spPr>
      </p:sp>
      <p:sp>
        <p:nvSpPr>
          <p:cNvPr id="3" name="Text 1"/>
          <p:cNvSpPr/>
          <p:nvPr/>
        </p:nvSpPr>
        <p:spPr>
          <a:xfrm>
            <a:off x="1078992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CRACKWATCH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4EDEA3">
              <a:alpha val="8000"/>
            </a:srgbClr>
          </a:solidFill>
          <a:ln w="12700">
            <a:solidFill>
              <a:srgbClr val="4EDE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5DE6FF">
              <a:alpha val="6000"/>
            </a:srgbClr>
          </a:solidFill>
          <a:ln w="12700">
            <a:solidFill>
              <a:srgbClr val="5DE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4EDEA3">
              <a:alpha val="9000"/>
            </a:srgbClr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NIRMAN HACKATHON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pPr indent="0" marL="0">
              <a:buNone/>
            </a:pPr>
            <a:r>
              <a:rPr lang="en-US" sz="9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Infrastructure Command Center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damage before it becomes disaster.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Govt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84632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846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Citizen PWA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484632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846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Bot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53492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9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3 AI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34640" y="53492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5349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Gamified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534924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5349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Fraud-Proof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 Satopay  •  Amity University Mumbai  •  April 15-17, 2026  •  Problem Statement #4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6.4 million km of roads. Manual inspection is slow, expensive, and dangerous.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accidents happen due to undetected road damage.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₹33,000 Cr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road repair budget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never fixed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☠️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 road damage / yr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0312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743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89720" y="3474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complaint resolution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6667"/>
            </a:avLst>
          </a:prstGeom>
          <a:solidFill>
            <a:srgbClr val="0D2319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6634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AI could detect these issues, estimate cost, AND hold the government accountable — all before a single accident happens?”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CRACKWATCH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detection — a full accountability loop from citizen to city hall.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3-model pipeline detects 10+ damage types in 757ms. Fully offline.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estimates, repair methods, crew requirements, urgency tags.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🔮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road fails in X days' with monsoon acceleration factor.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3268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0" y="301752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earn XP, coins, badges — compete to fix their city.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say: </a:t>
            </a:r>
            <a:pPr indent="0" marL="0">
              <a:buNone/>
            </a:pPr>
            <a:r>
              <a:rPr lang="en-US" sz="1600" i="1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detect potholes."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5321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say: </a:t>
            </a:r>
            <a:pPr indent="0" marL="0">
              <a:buNone/>
            </a:pPr>
            <a:r>
              <a:rPr lang="en-US" sz="18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tell governments EXACTLY what to fix tomorrow, at what cost, and make sure they don't ignore it."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Platform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apps. One backend. A complete citizen ↔ government accountability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web dashboard for inspectors &amp; PWD officers.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damage detection &amp; severity scoring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 cost estimation + repair methods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Priority-ranked action plans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map with admin controls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&amp; live camera inference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maintenance forecasts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Wall of Shame (contractor accountability)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PWA + WhatsApp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Phone-shaped PWA + WhatsApp bot — no install needed.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 + GPS damage reporting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pothole map (7 unfixed, 3 fixed…)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Pothole-aware navigation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206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Pothole Hunter leaderboard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526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Civic Coins + 13 achievement badges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Challenge game (+50 XP)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reporting (500M users)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Shared FastAPI Backend  •  YOLOv8 AI Pipeline  •  JWT Auth  •  Twilio WhatsApp  •  Fully Offline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 💬  Zero App Install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damage via WhatsApp — the platform they already have.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5029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D76B">
              <a:alpha val="13000"/>
            </a:srgbClr>
          </a:solidFill>
          <a:ln w="9525">
            <a:solidFill>
              <a:srgbClr val="FFD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02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4663440"/>
          </a:xfrm>
          <a:prstGeom prst="roundRect">
            <a:avLst>
              <a:gd name="adj" fmla="val 2353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groundbreaking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users in India can report damage right now.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 </a:t>
            </a:r>
            <a:pPr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install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 </a:t>
            </a:r>
            <a:pPr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signup, no password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 </a:t>
            </a:r>
            <a:pPr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— it's already WhatsApp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 (even feature phones)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location share for GPS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Twilio + FastAPI webhook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111B12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conversation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210312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[Pothole Photo]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32520" y="2423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2:27 am  ✓✓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288036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202C33"/>
          </a:solidFill>
          <a:ln w="12700">
            <a:solidFill>
              <a:srgbClr val="202C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9260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Got your photo!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🟡 Alligator Crack (87%)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Now share your location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402336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0507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Location shared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466344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202C33"/>
          </a:solidFill>
          <a:ln w="12700">
            <a:solidFill>
              <a:srgbClr val="202C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709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Report RPT-8B20EA submitted!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Alligator Crack · 66/100 severity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Est. repair: ₹14,881
</a:t>
            </a:r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Method: Routing and sealing
</a:t>
            </a:r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+50 XP · +5 coins · New badge: First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specialized models running in parallel. Zero cloud dependency. Fully offline.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YOLOv8s-RDD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Longitudinal, Transverse, Alligator Crack, Pothole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4EDEA3">
              <a:alpha val="8000"/>
            </a:srgbClr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Road &amp; Highway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YOLOv8s-CrackSeg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Crack Segmentation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cracks, apartment cracks, concrete fractures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5DE6FF">
              <a:alpha val="8000"/>
            </a:srgbClr>
          </a:solidFill>
          <a:ln w="12700">
            <a:solidFill>
              <a:srgbClr val="5DE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Building &amp; Structure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Pipeline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CV-based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412480" y="3566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Spalling, water leaks, corrosion, pipeline breaks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0" y="4572000"/>
            <a:ext cx="3200400" cy="320040"/>
          </a:xfrm>
          <a:prstGeom prst="roundRect">
            <a:avLst>
              <a:gd name="adj" fmla="val 14286"/>
            </a:avLst>
          </a:prstGeom>
          <a:solidFill>
            <a:srgbClr val="FFA94D">
              <a:alpha val="8000"/>
            </a:srgbClr>
          </a:solidFill>
          <a:ln w="12700">
            <a:solidFill>
              <a:srgbClr val="FFA9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Pipeline &amp; Bridge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778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757ms</a:t>
            </a:r>
            <a:pPr algn="ctr"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inference  •  </a:t>
            </a:r>
            <a:pPr algn="ctr" indent="0" marL="0">
              <a:buNone/>
            </a:pPr>
            <a:r>
              <a:rPr lang="en-US" sz="1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10+</a:t>
            </a:r>
            <a:pPr algn="ctr"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damage types  •  </a:t>
            </a:r>
            <a:pPr algn="ctr" indent="0" marL="0">
              <a:buNone/>
            </a:pPr>
            <a:r>
              <a:rPr lang="en-US" sz="16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0 API calls</a:t>
            </a:r>
            <a:pPr algn="ctr"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runs on $0/month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Detection — A Decision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flows through a 6-stage pipeline into an actionable repair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20240"/>
            <a:ext cx="594360" cy="594360"/>
          </a:xfrm>
          <a:prstGeom prst="ellipse">
            <a:avLst/>
          </a:prstGeom>
          <a:solidFill>
            <a:srgbClr val="4EDEA3">
              <a:alpha val="13000"/>
            </a:srgbClr>
          </a:solidFill>
          <a:ln w="19050">
            <a:solidFill>
              <a:srgbClr val="4EDE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CV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DEA3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920240"/>
            <a:ext cx="594360" cy="594360"/>
          </a:xfrm>
          <a:prstGeom prst="ellipse">
            <a:avLst/>
          </a:prstGeom>
          <a:solidFill>
            <a:srgbClr val="5DE6FF">
              <a:alpha val="13000"/>
            </a:srgbClr>
          </a:solidFill>
          <a:ln w="19050">
            <a:solidFill>
              <a:srgbClr val="5DE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0-100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192024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DEA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920240"/>
            <a:ext cx="594360" cy="594360"/>
          </a:xfrm>
          <a:prstGeom prst="ellipse">
            <a:avLst/>
          </a:prstGeom>
          <a:solidFill>
            <a:srgbClr val="A78BFA">
              <a:alpha val="13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8912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192024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DEA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0936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920240"/>
            <a:ext cx="594360" cy="594360"/>
          </a:xfrm>
          <a:prstGeom prst="ellipse">
            <a:avLst/>
          </a:prstGeom>
          <a:solidFill>
            <a:srgbClr val="FFA94D">
              <a:alpha val="13000"/>
            </a:srgbClr>
          </a:solidFill>
          <a:ln w="19050">
            <a:solidFill>
              <a:srgbClr val="FFA9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estimate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92440" y="192024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DEA3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22960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920240"/>
            <a:ext cx="594360" cy="594360"/>
          </a:xfrm>
          <a:prstGeom prst="ellipse">
            <a:avLst/>
          </a:prstGeom>
          <a:solidFill>
            <a:srgbClr val="FFD76B">
              <a:alpha val="13000"/>
            </a:srgbClr>
          </a:solidFill>
          <a:ln w="19050">
            <a:solidFill>
              <a:srgbClr val="FFD7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Geo-tagged pin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12680" y="1920240"/>
            <a:ext cx="137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DEA3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149840" y="1737360"/>
            <a:ext cx="1783080" cy="1737360"/>
          </a:xfrm>
          <a:prstGeom prst="roundRect">
            <a:avLst>
              <a:gd name="adj" fmla="val 6316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44200" y="1920240"/>
            <a:ext cx="594360" cy="594360"/>
          </a:xfrm>
          <a:prstGeom prst="ellipse">
            <a:avLst/>
          </a:prstGeom>
          <a:solidFill>
            <a:srgbClr val="4EDEA3">
              <a:alpha val="13000"/>
            </a:srgbClr>
          </a:solidFill>
          <a:ln w="19050">
            <a:solidFill>
              <a:srgbClr val="4EDE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4420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149840" y="26060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49840" y="30175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0D2319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The cost of delay — real numbers from our Repair Plan engine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4480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800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₹47,270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1440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 sealant, 1 crew, 2 hours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97680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8463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IGNORED 6 MONTHS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4800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₹1,89,080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484632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Full-depth repair, 3 crews, 8 hours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6868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0" y="4800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₹1,41,810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8686800" y="5577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road, per early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Fraud Detection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citizen report is scored by 5 independent trust signals before it reaches the inspector.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5029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D76B">
              <a:alpha val="13000"/>
            </a:srgbClr>
          </a:solidFill>
          <a:ln w="9525">
            <a:solidFill>
              <a:srgbClr val="FFD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02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EDEA3">
              <a:alpha val="9000"/>
            </a:srgbClr>
          </a:solidFill>
          <a:ln w="9525">
            <a:solidFill>
              <a:srgbClr val="4EDE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Authenticity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Moiré pattern, resolution, brightness, edge sharpness, color distribution, aspect ratio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86600" y="19659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EDEA3">
              <a:alpha val="9000"/>
            </a:srgbClr>
          </a:solidFill>
          <a:ln w="9525">
            <a:solidFill>
              <a:srgbClr val="4EDE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Validation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2788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check, India bounds, spoof detection, null-island rejection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881360" y="196596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EDEA3">
              <a:alpha val="9000"/>
            </a:srgbClr>
          </a:solidFill>
          <a:ln w="9525">
            <a:solidFill>
              <a:srgbClr val="4EDE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8136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423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Relevance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2788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actually find damage classes (not selfies, not cats)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86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291840" y="39319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EDEA3">
              <a:alpha val="9000"/>
            </a:srgbClr>
          </a:solidFill>
          <a:ln w="9525">
            <a:solidFill>
              <a:srgbClr val="4EDE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9319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4754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Haversine radius — stops spamming the same pothole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7033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886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7086600" y="39319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EDEA3">
              <a:alpha val="9000"/>
            </a:srgbClr>
          </a:solidFill>
          <a:ln w="9525">
            <a:solidFill>
              <a:srgbClr val="4EDE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39319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17720" y="4754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reports / hour / user — prevents bot submissions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562356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562356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  →  </a:t>
            </a:r>
            <a:pPr algn="ctr"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  </a:t>
            </a:r>
            <a:pPr algn="ctr" indent="0" marL="0">
              <a:buNone/>
            </a:pPr>
            <a:r>
              <a:rPr lang="en-US" sz="13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45-70  →  </a:t>
            </a:r>
            <a:pPr algn="ctr"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   </a:t>
            </a:r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&lt;45  →  </a:t>
            </a:r>
            <a:pPr algn="ctr" indent="0" marL="0">
              <a:buNone/>
            </a:pPr>
            <a:r>
              <a:rPr lang="en-US" sz="13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find damage. We tell you when it will fail.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5029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D76B">
              <a:alpha val="13000"/>
            </a:srgbClr>
          </a:solidFill>
          <a:ln w="9525">
            <a:solidFill>
              <a:srgbClr val="FFD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02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0D2319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Ghodbunder Rd, Thane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Alligator Crack · 66% severity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critical failure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F6B6B">
              <a:alpha val="13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severity/week (monsoon factor 2.5×)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if fixed now: ₹8,500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if delayed 30 days: ₹23,000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prediction engine works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331720"/>
            <a:ext cx="228600" cy="22860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progression rates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5786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type: growth mm/day, worsen %/week from empirical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228600" cy="22860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acceleration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3558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 faster damage growth during Jun-Sep (India context)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886200"/>
            <a:ext cx="228600" cy="22860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timeline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1330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state at 1, 2, 4, 8, 12 weeks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4663440"/>
            <a:ext cx="228600" cy="22860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projection delta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49103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 vs delayed 1wk / 2wk / 1mo / 3mo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5440680"/>
            <a:ext cx="228600" cy="22860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Area-wide forecast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568756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zones will fail next — citywide view for PWD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 🏆  Citizens Compete to Fix Their City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Civic Coins, badges, and streaks turn civic duty into a game people actually play.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5029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D76B">
              <a:alpha val="13000"/>
            </a:srgbClr>
          </a:solidFill>
          <a:ln w="9525">
            <a:solidFill>
              <a:srgbClr val="FFD7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0" y="502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POTHOLE HUNTER LEADERBOARD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1371600" cy="1463040"/>
          </a:xfrm>
          <a:prstGeom prst="roundRect">
            <a:avLst>
              <a:gd name="adj" fmla="val 5333"/>
            </a:avLst>
          </a:prstGeom>
          <a:solidFill>
            <a:srgbClr val="C0C0C0">
              <a:alpha val="12000"/>
            </a:srgbClr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800600"/>
            <a:ext cx="548640" cy="548640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715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 XP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4206240"/>
            <a:ext cx="1371600" cy="1920240"/>
          </a:xfrm>
          <a:prstGeom prst="roundRect">
            <a:avLst>
              <a:gd name="adj" fmla="val 5333"/>
            </a:avLst>
          </a:prstGeom>
          <a:solidFill>
            <a:srgbClr val="FFD76B">
              <a:alpha val="12000"/>
            </a:srgbClr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4343400"/>
            <a:ext cx="548640" cy="548640"/>
          </a:xfrm>
          <a:prstGeom prst="ellipse">
            <a:avLst/>
          </a:prstGeom>
          <a:solidFill>
            <a:srgbClr val="FFD76B"/>
          </a:solidFill>
          <a:ln w="12700">
            <a:solidFill>
              <a:srgbClr val="FFD7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 Vinchu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 XP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493776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CD7F32">
              <a:alpha val="12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5074920"/>
            <a:ext cx="548640" cy="548640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23360" y="5715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5989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1650 XP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7373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9224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Badges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Road Warrior · City Saver · AI Master · Streak badges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17373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89720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Coins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8972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for reports, verifications, streaks. Starting bonus: 50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33375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9224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3-day, 7-day, 30-day — bonus XP multipliers per streak day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06840" y="33375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9720" y="3474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8972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Challenge Game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89720" y="4297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damage type from scenario · +50 XP for correct answers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49377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074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49224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5897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weekly — 'Report 5 potholes today', 'Find a critical road'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06840" y="49377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89720" y="5074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189720" y="5577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Verify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189720" y="5897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valid/invalid on reports. Verifiers earn XP + coins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 ⚡  Accountability  ⚡  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+ contractor-level tracking forces governments to 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2A0F0F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WALL OF SHAME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ranked by negligence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PQR Contractors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unfixed · 34% fix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2926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Constructions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unfixed · 41% fix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0" y="4297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Roadworks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unfixed · 52% fix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937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0" y="5303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severity × days unresolved × community votes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73736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LOOP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2377440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331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photos pothole via WhatsApp or app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DEA3"/>
                </a:solidFill>
              </a:rPr>
              <a:t>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299923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2953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detects, fraud-checks, scores severity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75120" y="3319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DEA3"/>
                </a:solidFill>
              </a:rPr>
              <a:t>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3621024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3621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32320" y="35753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appears on public map — VISIBLE TO ALL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39410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DEA3"/>
                </a:solidFill>
              </a:rPr>
              <a:t>│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29400" y="4242816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32320" y="41970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dashboard receives priority queue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75120" y="45628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DEA3"/>
                </a:solidFill>
              </a:rPr>
              <a:t>│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29400" y="4864608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32320" y="48188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unresolved compound negligence score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5120" y="5184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DEA3"/>
                </a:solidFill>
              </a:rPr>
              <a:t>│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629400" y="5486400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5440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fixes → citizen gets WhatsApp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Hackathon-scale. Production-shaped. Zero cloud bills.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YOLOv8s-RDD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YOLOv8s-CrackSeg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OpenCV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+ Uvicorn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Pillow EXIF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0684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+ Vite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v4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shadcn/ui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Framer Motion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PWA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+ Vite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+ routing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+ capture=env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5852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Phone-frame UI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41148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1208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1772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Twilio WhatsApp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ngrok tunnel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OSRM routing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5852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OpenStreetMap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38160" y="41148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006840" y="4343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12480" y="4892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RDD2022 (4.8K imgs)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HuggingFace models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0" y="5532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In-memory + file store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12480" y="5852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inference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Scalability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city. Deployable to a billion people.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inspection cost vs manual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D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52044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damage identification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₹1.4L+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road fixed early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transparency on govt performance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0D2319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scales to 1 billion 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5074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inference — no AWS bills, no API quotas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4754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5074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 Indian users already have the 'app' installed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4754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5074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Forkable by any municipality. Re-skin, re-deploy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52560" y="4754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012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0" y="50749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internet. Models run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3 Minutes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full citizen ↔ government loop happen in real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· Hook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₹33,000 Cr spent. 73% of potholes never fixed. ₹1.4L saved per early fix.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505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 · Govt login &amp; upload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in, upload road photo → 757ms AI detection → severity + cost + repair plan.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1363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0:55 · WhatsApp bot demo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3375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pothole photo from my phone to Twilio number. Bot replies with AI analysis in 3s.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8221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767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· Pin appears on govt 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instantly visible on inspector's map. Mark 'Fixed'. Citizen gets confirmation.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079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453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1:55 · Predictive maintenance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709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'fails in 18 days' + cost delta if delayed. Forward-looking vs reactive.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1937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93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5138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· Gamification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5394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saud/123 → Lv.6, 10 badges, #1 leaderboard, 21-day streak.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1C1B1D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879592"/>
            <a:ext cx="365760" cy="365760"/>
          </a:xfrm>
          <a:prstGeom prst="ellipse">
            <a:avLst/>
          </a:prstGeom>
          <a:solidFill>
            <a:srgbClr val="4EDEA3"/>
          </a:solidFill>
          <a:ln w="12700">
            <a:solidFill>
              <a:srgbClr val="4EDE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879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1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25880" y="5824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· Wall of Shame + closing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ranked by negligence. 'Transparency drives accountability.'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EDEA3">
              <a:alpha val="8000"/>
            </a:srgbClr>
          </a:solidFill>
          <a:ln w="12700">
            <a:solidFill>
              <a:srgbClr val="4EDEA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5DE6FF">
              <a:alpha val="6000"/>
            </a:srgbClr>
          </a:solidFill>
          <a:ln w="12700">
            <a:solidFill>
              <a:srgbClr val="5DE6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</a:t>
            </a:r>
            <a:pPr algn="ctr" indent="0" marL="0">
              <a:buNone/>
            </a:pPr>
            <a:r>
              <a:rPr lang="en-US" sz="80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C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 for All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E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5212080"/>
            <a:ext cx="5760720" cy="822960"/>
          </a:xfrm>
          <a:prstGeom prst="roundRect">
            <a:avLst>
              <a:gd name="adj" fmla="val 13333"/>
            </a:avLst>
          </a:prstGeom>
          <a:solidFill>
            <a:srgbClr val="0D2319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52120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D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github.com/SaudSatopay/CrackWatch-NirmanHackathon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 Satopay  •  NIRMAN Hackathon 2026  •  Amity University Mumbai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NIRMAN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CRACKWATCH — Smart Infrastructure Command Center</dc:title>
  <dc:subject>AI Infrastructure Damage Detection</dc:subject>
  <dc:creator>Saud Satopay</dc:creator>
  <cp:lastModifiedBy>Saud Satopay</cp:lastModifiedBy>
  <cp:revision>1</cp:revision>
  <dcterms:created xsi:type="dcterms:W3CDTF">2026-04-16T23:01:37Z</dcterms:created>
  <dcterms:modified xsi:type="dcterms:W3CDTF">2026-04-16T23:01:37Z</dcterms:modified>
</cp:coreProperties>
</file>